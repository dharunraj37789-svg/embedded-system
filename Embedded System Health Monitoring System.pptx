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</ns0:sldIdLst>
  <ns0:sldSz cx="12192000" cy="6858000" type="screen4x3"/>
  <ns0:notesSz cx="6858000" cy="9144000"/>
  <ns0:embeddedFontLst>
    <ns0:embeddedFont>
      <ns0:font typeface="Plus Jakarta Sans"/>
      <ns0:bold ns1:id="rIdFont21"/>
      <ns0:regular ns1:id="rIdFont22"/>
    </ns0:embeddedFont>
    <ns0:embeddedFont>
      <ns0:font typeface="JetBrains Mono"/>
      <ns0:bold ns1:id="rIdFont23"/>
      <ns0:regular ns1:id="rIdFont2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Font21" Type="http://schemas.openxmlformats.org/officeDocument/2006/relationships/font" Target="fonts/ccc2f482-cb1c-4e6e-825b-b4a2aefb77d9.fntdata" /><ns0:Relationship Id="rIdFont22" Type="http://schemas.openxmlformats.org/officeDocument/2006/relationships/font" Target="fonts/9e26fd20-a881-4953-b68e-e4680e2788dc.fntdata" /><ns0:Relationship Id="rIdFont23" Type="http://schemas.openxmlformats.org/officeDocument/2006/relationships/font" Target="fonts/3e407920-d485-4e55-9bfa-63760d2438dd.fntdata" /><ns0:Relationship Id="rIdFont24" Type="http://schemas.openxmlformats.org/officeDocument/2006/relationships/font" Target="fonts/87a12bcc-387e-4e9f-8f83-d4ffd69e288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334500" y="3606105"/>
            <a:ext cx="2095500" cy="144780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4387155"/>
            <a:ext cx="78105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4387155"/>
            <a:ext cx="78105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625" y="3844230"/>
            <a:ext cx="161925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301162" y="3834705"/>
            <a:ext cx="2162175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Plus Jakarta Sans"/>
              </a:rPr>
              <a:t>AENEXZ Platform</a:t>
            </a:r>
            <a:r>
              <a:rPr b="1" sz="3600" i="0" u="none">
                <a:solidFill>
                  <a:srgbClr val="38BDF8"/>
                </a:solidFill>
                <a:latin typeface="Plus Jakarta Sans"/>
              </a:rPr>
              <a:t> </a:t>
            </a:r>
            <a:r>
              <a:rPr b="1" sz="975" i="0" u="none">
                <a:solidFill>
                  <a:srgbClr val="64748B"/>
                </a:solidFill>
                <a:latin typeface="Plus Jakarta Sans"/>
              </a:rPr>
              <a:t>Hardware In The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804094"/>
            <a:ext cx="9763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EMBEDDED SYSTEMS CAPSTONE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137469"/>
            <a:ext cx="8301037" cy="118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b="1" sz="4050" i="0" u="none">
                <a:solidFill>
                  <a:srgbClr val="F8FAFC"/>
                </a:solidFill>
                <a:latin typeface="Plus Jakarta Sans"/>
              </a:rPr>
              <a:t>Embedded System Health Monitoring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548955"/>
            <a:ext cx="7905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Real-time diagnostic telemetry, multi-channel parameter acquisition, and automated fault threshold processing.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625280"/>
            <a:ext cx="12763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AUTHOR &amp;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815780"/>
            <a:ext cx="12763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1F5F9"/>
                </a:solidFill>
                <a:latin typeface="Plus Jakarta Sans"/>
              </a:rPr>
              <a:t>Dharun Raj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3600" y="4625280"/>
            <a:ext cx="3417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3600" y="4815780"/>
            <a:ext cx="341709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CBD5E1"/>
                </a:solidFill>
                <a:latin typeface="Plus Jakarta Sans"/>
              </a:rPr>
              <a:t>Electronics &amp; Communication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48275" y="4625280"/>
            <a:ext cx="32742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CORE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275" y="4815780"/>
            <a:ext cx="327421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38BDF8"/>
                </a:solidFill>
                <a:latin typeface="Plus Jakarta Sans"/>
              </a:rPr>
              <a:t>STM32 • Wokwi • I2C • UART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23108"/>
            <a:ext cx="4906267" cy="2314575"/>
          </a:xfrm>
          <a:prstGeom prst="roundRect">
            <a:avLst>
              <a:gd name="adj" fmla="val 658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820667" y="2613570"/>
            <a:ext cx="5761732" cy="2533650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CONTEXT &amp;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lus Jakarta Sans"/>
              </a:rPr>
              <a:t>System Overview &amp; Specifications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037433"/>
            <a:ext cx="561437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Project Metadata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34992" y="2927895"/>
            <a:ext cx="605700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Core Engineering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447008"/>
            <a:ext cx="534702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Lead Developer: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Dharun Raj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799433"/>
            <a:ext cx="534702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Domain: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Embedded Systems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151858"/>
            <a:ext cx="534702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Processor Target: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STM32 Arm Cortex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504283"/>
            <a:ext cx="534702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Simulation Engine: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Wokwi Virtual Prototyping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4992" y="3337470"/>
            <a:ext cx="605700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Continuous Telemetry: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Sub-cycle hardware metric 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4992" y="3689895"/>
            <a:ext cx="605700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True RMS Processing: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Root-mean-square calculation engines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34992" y="4042320"/>
            <a:ext cx="605700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Health Aggregation: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Stress index and accumulated power draw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4992" y="4394745"/>
            <a:ext cx="522833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Dual Telemetry: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Local alphanumeric display and PC serial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79402"/>
            <a:ext cx="3479750" cy="1601985"/>
          </a:xfrm>
          <a:prstGeom prst="roundRect">
            <a:avLst>
              <a:gd name="adj" fmla="val 832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2959447"/>
            <a:ext cx="3479750" cy="1841896"/>
          </a:xfrm>
          <a:prstGeom prst="roundRect">
            <a:avLst>
              <a:gd name="adj" fmla="val 72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959447"/>
            <a:ext cx="3479750" cy="1841896"/>
          </a:xfrm>
          <a:prstGeom prst="roundRect">
            <a:avLst>
              <a:gd name="adj" fmla="val 72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" y="3374677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325" y="3254722"/>
            <a:ext cx="3048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7775" y="3254722"/>
            <a:ext cx="23812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lus Jakarta Sans"/>
              </a:rPr>
              <a:t>Health Monitoring Fundamentals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3793777"/>
            <a:ext cx="37920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Operational 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4146202"/>
            <a:ext cx="36115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Active sub-system load analysis.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1325" y="3673822"/>
            <a:ext cx="37920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Unified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1325" y="4026247"/>
            <a:ext cx="29844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Integrated multi-parameter sensing.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7775" y="3673822"/>
            <a:ext cx="37920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Dynamic Sensing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7775" y="4026247"/>
            <a:ext cx="29844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Real-time continuous signal sampling.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56458"/>
            <a:ext cx="5334000" cy="2047875"/>
          </a:xfrm>
          <a:prstGeom prst="roundRect">
            <a:avLst>
              <a:gd name="adj" fmla="val 7441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56458"/>
            <a:ext cx="5334000" cy="2047875"/>
          </a:xfrm>
          <a:prstGeom prst="roundRect">
            <a:avLst>
              <a:gd name="adj" fmla="val 7441"/>
            </a:avLst>
          </a:prstGeom>
          <a:solidFill>
            <a:srgbClr val="FFFFFF"/>
          </a:solidFill>
          <a:ln w="9525">
            <a:solidFill>
              <a:srgbClr val="DCF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99358"/>
            <a:ext cx="209550" cy="209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3199358"/>
            <a:ext cx="209550" cy="209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SYSTEM RATIONALE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lus Jakarta Sans"/>
              </a:rPr>
              <a:t>Problem Statement vs Proposed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7775" y="3170783"/>
            <a:ext cx="258782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991B1B"/>
                </a:solidFill>
                <a:latin typeface="Plus Jakarta Sans"/>
              </a:rPr>
              <a:t>Existing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627983"/>
            <a:ext cx="5881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Discrete Hardware: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Bulky multi-meter bench setups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999458"/>
            <a:ext cx="5881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Unfiltered Fluctuations: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Noisy electrical line readouts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370933"/>
            <a:ext cx="5881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Blind Spot Drifts: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Zero automated cumulative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575" y="3170783"/>
            <a:ext cx="4000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66534"/>
                </a:solidFill>
                <a:latin typeface="Plus Jakarta Sans"/>
              </a:rPr>
              <a:t>Proposed Embedded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2725" y="3627983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STM32 Hub: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Single monolithic processing node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725" y="3999458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Signal Filtering: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Software rolling averages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4370933"/>
            <a:ext cx="56292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Plus Jakarta Sans"/>
              </a:rPr>
              <a:t>Real-Time Visuals: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LCD &amp; UART health telemetries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32645"/>
            <a:ext cx="5372100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832645"/>
            <a:ext cx="5372100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94695"/>
            <a:ext cx="5372100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994695"/>
            <a:ext cx="5372100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5825" y="3089820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86525" y="3089820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5825" y="4251870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86525" y="4251870"/>
            <a:ext cx="419100" cy="419100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CORE GOALS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lus Jakarta Sans"/>
              </a:rPr>
              <a:t>System Functional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3089820"/>
            <a:ext cx="7048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0284C7"/>
                </a:solidFill>
                <a:latin typeface="Plus Jakarta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3650" y="3089820"/>
            <a:ext cx="7048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0284C7"/>
                </a:solidFill>
                <a:latin typeface="Plus Jakarta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4251870"/>
            <a:ext cx="7048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0284C7"/>
                </a:solidFill>
                <a:latin typeface="Plus Jakarta San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3650" y="4251870"/>
            <a:ext cx="7048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0284C7"/>
                </a:solidFill>
                <a:latin typeface="Plus Jakarta San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7325" y="3070770"/>
            <a:ext cx="356294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Analog Signal Acquisition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57325" y="3327945"/>
            <a:ext cx="33932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Periodic dual-channel ADC sampling.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8025" y="3070770"/>
            <a:ext cx="36004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True RMS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8025" y="3327945"/>
            <a:ext cx="3429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Multi-sample root mean computation.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7325" y="4232820"/>
            <a:ext cx="366295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Numerical Calibration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7325" y="4489995"/>
            <a:ext cx="3488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Scale factors &amp; real power formulation.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8025" y="4232820"/>
            <a:ext cx="36129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Dual Telemetry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8025" y="4489995"/>
            <a:ext cx="34409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I2C 20x4 LCD and 115200 baud UART.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TELEMETRY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lus Jakarta Sans"/>
              </a:rPr>
              <a:t>System Sampling Cadence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24400" y="2956470"/>
            <a:ext cx="3429000" cy="1143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b="1" sz="9000" i="0" u="none">
                <a:solidFill>
                  <a:srgbClr val="0284C7"/>
                </a:solidFill>
                <a:latin typeface="JetBrains Mono"/>
              </a:rPr>
              <a:t>1000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62512" y="4213770"/>
            <a:ext cx="3083718" cy="3143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Plus Jakarta Sans"/>
              </a:rPr>
              <a:t>Samples Per Second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6025" y="4585245"/>
            <a:ext cx="9024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Continuous ADC conversion pipeline capturing system health variations without loop stalls.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37345"/>
            <a:ext cx="10972800" cy="733425"/>
          </a:xfrm>
          <a:prstGeom prst="roundRect">
            <a:avLst>
              <a:gd name="adj" fmla="val 15584"/>
            </a:avLst>
          </a:prstGeom>
          <a:solidFill>
            <a:srgbClr val="F0FDF4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261270"/>
            <a:ext cx="10972800" cy="1238250"/>
          </a:xfrm>
          <a:prstGeom prst="roundRect">
            <a:avLst>
              <a:gd name="adj" fmla="val 9230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690020"/>
            <a:ext cx="10972800" cy="733425"/>
          </a:xfrm>
          <a:prstGeom prst="roundRect">
            <a:avLst>
              <a:gd name="adj" fmla="val 15584"/>
            </a:avLst>
          </a:prstGeom>
          <a:solidFill>
            <a:srgbClr val="FFF7ED"/>
          </a:solidFill>
          <a:ln w="9525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96125" y="2518320"/>
            <a:ext cx="2038350" cy="37147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3075" y="2518320"/>
            <a:ext cx="1981200" cy="37147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239375" y="3480345"/>
            <a:ext cx="1104900" cy="238125"/>
          </a:xfrm>
          <a:prstGeom prst="roundRect">
            <a:avLst>
              <a:gd name="adj" fmla="val 24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7725" y="3851820"/>
            <a:ext cx="2509837" cy="42862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09962" y="3851820"/>
            <a:ext cx="2509837" cy="42862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3851820"/>
            <a:ext cx="2509837" cy="42862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34437" y="3851820"/>
            <a:ext cx="2509837" cy="42862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77050" y="4870995"/>
            <a:ext cx="1943100" cy="37147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 w="9525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48750" y="4870995"/>
            <a:ext cx="2295525" cy="37147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 w="9525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0485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lus Jakarta Sans"/>
              </a:rPr>
              <a:t>System Functional Flow &amp; Blocks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2613570"/>
            <a:ext cx="19764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5803D"/>
                </a:solidFill>
                <a:latin typeface="Plus Jakarta Sans"/>
              </a:rPr>
              <a:t>SENSOR INPUT BLOCK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966245"/>
            <a:ext cx="2428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C2410C"/>
                </a:solidFill>
                <a:latin typeface="Plus Jakarta Sans"/>
              </a:rPr>
              <a:t>TELEMETRY OUTPUT BLOCK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7575" y="2594520"/>
            <a:ext cx="17907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6534"/>
                </a:solidFill>
                <a:latin typeface="Plus Jakarta Sans"/>
              </a:rPr>
              <a:t>Voltage Input (ADC A0)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4525" y="2594520"/>
            <a:ext cx="17335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6534"/>
                </a:solidFill>
                <a:latin typeface="Plus Jakarta Sans"/>
              </a:rPr>
              <a:t>Current Input (ADC A1)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3508920"/>
            <a:ext cx="40124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D4ED8"/>
                </a:solidFill>
                <a:latin typeface="Plus Jakarta Sans"/>
              </a:rPr>
              <a:t>PROCESSING NODE (STM32 NUCLEO BOARD)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4625" y="3518445"/>
            <a:ext cx="10096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40AF"/>
                </a:solidFill>
                <a:latin typeface="JetBrains Mono"/>
              </a:rPr>
              <a:t>Clock: 64MHz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295" y="3966120"/>
            <a:ext cx="290869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3A8A"/>
                </a:solidFill>
                <a:latin typeface="Plus Jakarta Sans"/>
              </a:rPr>
              <a:t>Analog Acquisition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0532" y="3966120"/>
            <a:ext cx="290869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3A8A"/>
                </a:solidFill>
                <a:latin typeface="Plus Jakarta Sans"/>
              </a:rPr>
              <a:t>RMS &amp; Power Calc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2770" y="3966120"/>
            <a:ext cx="290869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3A8A"/>
                </a:solidFill>
                <a:latin typeface="Plus Jakarta Sans"/>
              </a:rPr>
              <a:t>Cumulative Energy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5007" y="3966120"/>
            <a:ext cx="2908696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3A8A"/>
                </a:solidFill>
                <a:latin typeface="Plus Jakarta Sans"/>
              </a:rPr>
              <a:t>Low-Pass Filter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8500" y="4947195"/>
            <a:ext cx="16954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3412"/>
                </a:solidFill>
                <a:latin typeface="Plus Jakarta Sans"/>
              </a:rPr>
              <a:t>20x4 I2C LCD Display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0200" y="4947195"/>
            <a:ext cx="20478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A3412"/>
                </a:solidFill>
                <a:latin typeface="Plus Jakarta Sans"/>
              </a:rPr>
              <a:t>UART 115200 Serial Stream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80308"/>
            <a:ext cx="2072580" cy="140017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34580" y="3180308"/>
            <a:ext cx="2072580" cy="140017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59560" y="3180308"/>
            <a:ext cx="2072580" cy="140017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84541" y="3180308"/>
            <a:ext cx="2072580" cy="140017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09521" y="3180308"/>
            <a:ext cx="2072580" cy="140017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74440" y="3418433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99420" y="3418433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24401" y="3418433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49381" y="3418433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74362" y="3418433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PIPELINE BREAKDOWN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0485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lus Jakarta Sans"/>
              </a:rPr>
              <a:t>System Architecture Stages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1565" y="3418433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285" y="3875633"/>
            <a:ext cx="229520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Plus Jakarta Sans"/>
              </a:rPr>
              <a:t>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933" y="4161383"/>
            <a:ext cx="218591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Sensor potential inputs.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6545" y="3418433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3266" y="3875633"/>
            <a:ext cx="229520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Plus Jakarta Sans"/>
              </a:rPr>
              <a:t>Acquire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7914" y="4161383"/>
            <a:ext cx="218591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Multi-channel ADC reads.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81526" y="3418433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8246" y="3875633"/>
            <a:ext cx="229520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Plus Jakarta Sans"/>
              </a:rPr>
              <a:t>Filter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2894" y="4161383"/>
            <a:ext cx="218591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Rolling noise rejection.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6506" y="3418433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3227" y="3875633"/>
            <a:ext cx="229520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Plus Jakarta Sans"/>
              </a:rPr>
              <a:t>Calculate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7875" y="4161383"/>
            <a:ext cx="218591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RMS power &amp; energy.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31487" y="3418433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98207" y="3875633"/>
            <a:ext cx="229520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Plus Jakarta Sans"/>
              </a:rP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52855" y="4161383"/>
            <a:ext cx="218591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64748B"/>
                </a:solidFill>
                <a:latin typeface="Plus Jakarta Sans"/>
              </a:rPr>
              <a:t>LCD and UART transmit.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64928"/>
            <a:ext cx="5314950" cy="2231082"/>
          </a:xfrm>
          <a:prstGeom prst="roundRect">
            <a:avLst>
              <a:gd name="adj" fmla="val 68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923133"/>
            <a:ext cx="5314950" cy="1914525"/>
          </a:xfrm>
          <a:prstGeom prst="roundRect">
            <a:avLst>
              <a:gd name="adj" fmla="val 79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603128"/>
            <a:ext cx="1757957" cy="63088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75" y="3856583"/>
            <a:ext cx="1576238" cy="2172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FORMULATION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lus Jakarta Sans"/>
              </a:rPr>
              <a:t>RMS &amp; Electrical Processing Equations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079253"/>
            <a:ext cx="5857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Root-Mean-Square Calculation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481661"/>
            <a:ext cx="5857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Discrete numerical sampling over window 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237458"/>
            <a:ext cx="56102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Instantaneous &amp; Cumulative 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4323308"/>
            <a:ext cx="56102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Instantaneous apparent power consumed per period.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29685" y="2356395"/>
            <a:ext cx="5052714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29685" y="3423195"/>
            <a:ext cx="5052714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29685" y="4489995"/>
            <a:ext cx="5052714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80145"/>
            <a:ext cx="5577185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889670"/>
            <a:ext cx="5558135" cy="398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lus Jakarta Sans"/>
              </a:rPr>
              <a:t>Hardware Architecture &amp; Virtualization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8760" y="2575470"/>
            <a:ext cx="544323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STM32 Microcontroller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760" y="2851695"/>
            <a:ext cx="544323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12-bit multi-channel fast analog conversion.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760" y="3642270"/>
            <a:ext cx="544323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Wokwi Safe Prototyping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760" y="3918495"/>
            <a:ext cx="544323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Accurate hardware behavior without burn risks.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760" y="4709070"/>
            <a:ext cx="544323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I2C Communication Bus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760" y="4985295"/>
            <a:ext cx="544323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Two-wire high speed LCD screen telemetry.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23158"/>
            <a:ext cx="2571750" cy="1514475"/>
          </a:xfrm>
          <a:prstGeom prst="roundRect">
            <a:avLst>
              <a:gd name="adj" fmla="val 880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3023145"/>
            <a:ext cx="2571750" cy="1714500"/>
          </a:xfrm>
          <a:prstGeom prst="roundRect">
            <a:avLst>
              <a:gd name="adj" fmla="val 77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023145"/>
            <a:ext cx="2571750" cy="1714500"/>
          </a:xfrm>
          <a:prstGeom prst="roundRect">
            <a:avLst>
              <a:gd name="adj" fmla="val 77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3023145"/>
            <a:ext cx="2571750" cy="1714500"/>
          </a:xfrm>
          <a:prstGeom prst="roundRect">
            <a:avLst>
              <a:gd name="adj" fmla="val 77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437483"/>
            <a:ext cx="24765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75" y="3337470"/>
            <a:ext cx="24765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3337470"/>
            <a:ext cx="276225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775" y="3337470"/>
            <a:ext cx="314325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VALUE PROPOSITION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lus Jakarta Sans"/>
              </a:rPr>
              <a:t>System Strengths &amp;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818483"/>
            <a:ext cx="27503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Sub-Cycle 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123283"/>
            <a:ext cx="2619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Real-time health reporting.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075" y="3718470"/>
            <a:ext cx="27503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Cost Efficient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075" y="4023270"/>
            <a:ext cx="2190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Low-cost edge deployment.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3718470"/>
            <a:ext cx="27503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Factory Utility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4023270"/>
            <a:ext cx="2190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Continuous machine diagnostics.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8775" y="3718470"/>
            <a:ext cx="27503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Sensor Extensible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8775" y="4023270"/>
            <a:ext cx="21907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Seamless real-sensor expansion.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46958"/>
            <a:ext cx="3505200" cy="16668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46958"/>
            <a:ext cx="3505200" cy="16668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46958"/>
            <a:ext cx="3505200" cy="166687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5825" y="3323183"/>
            <a:ext cx="704850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19625" y="3323183"/>
            <a:ext cx="723900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53425" y="3323183"/>
            <a:ext cx="733425" cy="247650"/>
          </a:xfrm>
          <a:prstGeom prst="roundRect">
            <a:avLst>
              <a:gd name="adj" fmla="val 2307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HORIZON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Plus Jakarta Sans"/>
              </a:rPr>
              <a:t>Conclusion &amp; Future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075" y="3361283"/>
            <a:ext cx="609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704183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Physical Transducers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037558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CT current clamps and precision step-down transformers.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4875" y="3361283"/>
            <a:ext cx="6286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704183"/>
            <a:ext cx="38754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IoT Cloud Uplink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4037558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MQTT telemetry streaming to cloud anomaly dashboards.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8675" y="3361283"/>
            <a:ext cx="6381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704183"/>
            <a:ext cx="38385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Predictive Health 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4037558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On-device TinyML inferencing for early wear detection.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614862" y="4038600"/>
            <a:ext cx="2962275" cy="46672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187" y="4195762"/>
            <a:ext cx="190500" cy="152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0" y="2352675"/>
            <a:ext cx="24765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38BDF8"/>
                </a:solidFill>
                <a:latin typeface="Plus Jakarta Sans"/>
              </a:rPr>
              <a:t>PROJECT 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58307" y="2686050"/>
            <a:ext cx="3075384" cy="628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F8FAFC"/>
                </a:solidFill>
                <a:latin typeface="Plus Jakarta San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38500" y="3467100"/>
            <a:ext cx="5715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94A3B8"/>
                </a:solidFill>
                <a:latin typeface="Plus Jakarta Sans"/>
              </a:rPr>
              <a:t>Embedded System Health Monitoring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1815" y="4162425"/>
            <a:ext cx="251221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1F5F9"/>
                </a:solidFill>
                <a:latin typeface="Plus Jakarta Sans"/>
              </a:rPr>
              <a:t>Presented by Dharun Raj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6966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3019127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407765"/>
            <a:ext cx="46315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https://www.edn.com/wp-content/uploads/news-stm32.png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607790"/>
            <a:ext cx="2083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www.edn.com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